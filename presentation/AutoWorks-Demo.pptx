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6736" y="740664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Calibri"/>
              </a:rPr>
              <a:t>AutoWorks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AutoWorks</a:t>
            </a:r>
          </a:p>
          <a:p>
            <a:pPr algn="l">
              <a:spcAft>
                <a:spcPts val="1400"/>
              </a:spcAft>
            </a:pPr>
            <a:r>
              <a:rPr sz="2800" b="1">
                <a:solidFill>
                  <a:srgbClr val="3B82F6"/>
                </a:solidFill>
                <a:latin typeface="Calibri"/>
              </a:rPr>
              <a:t>Workshop Management System</a:t>
            </a:r>
          </a:p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An end-to-end platform to run an automotive workshop — customers, vehicles, work orders, and invoicing in one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Calibri"/>
              </a:rPr>
              <a:t>Stakeholder Demo  ·  Phase 1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What is AutoWorks?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65836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A modern web application that digitizes the day-to-day operations of an automotive repair workshop.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Replaces paper job cards and spreadsheets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Single source of truth for customers &amp; vehicles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Tracks every job from intake to payment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Generates invoices automatically from completed work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Calibri"/>
              </a:rPr>
              <a:t>•  Real-time revenue &amp; operations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975104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Calibri"/>
              </a:rPr>
              <a:t>5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Core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15468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00984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Calibri"/>
              </a:rPr>
              <a:t>100%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Web-based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480560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626864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563EB"/>
                </a:solidFill>
                <a:latin typeface="Calibri"/>
              </a:rPr>
              <a:t>JWT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Secure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UNDER THE HOOD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Architecture &amp;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164592" cy="8686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1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Frontend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Angular 19 · Angular Material · responsive SPA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953511"/>
            <a:ext cx="164592" cy="8686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2953511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72383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REST API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ASP.NET Core · Clean Architecture · FluentValidation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32503"/>
            <a:ext cx="164592" cy="86868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032503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51375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Security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ASP.NET Identity · JWT auth · role-based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111495"/>
            <a:ext cx="164592" cy="8686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5111495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230367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alibri"/>
              </a:rPr>
              <a:t>Data</a:t>
            </a:r>
          </a:p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Entity Framework Core · PostgreSQL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Secure Login</a:t>
            </a:r>
          </a:p>
        </p:txBody>
      </p:sp>
      <p:pic>
        <p:nvPicPr>
          <p:cNvPr id="8" name="Picture 7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406640" cy="462915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183879" y="1874519"/>
            <a:ext cx="3520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Email + password authentication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JWT tokens issued on sign-in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Role-based access (Admin, Manager, Technician)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Clean, branded entry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Operations Dashboard</a:t>
            </a:r>
          </a:p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406640" cy="462915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183879" y="1874519"/>
            <a:ext cx="3520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Revenue today / this week / this month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Open work orders in progress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Jobs completed this month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Outstanding (unpaid) invoice totals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Live KPIs the moment you log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Customers</a:t>
            </a:r>
          </a:p>
        </p:txBody>
      </p:sp>
      <p:pic>
        <p:nvPicPr>
          <p:cNvPr id="8" name="Picture 7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406640" cy="462915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183879" y="1874519"/>
            <a:ext cx="3520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Searchable customer directory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Add new customers in seconds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Contact details &amp; vehicle counts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Foundation for jobs and billing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Vehicles</a:t>
            </a:r>
          </a:p>
        </p:txBody>
      </p:sp>
      <p:pic>
        <p:nvPicPr>
          <p:cNvPr id="8" name="Picture 7" descr="vehi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406640" cy="462915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183879" y="1874519"/>
            <a:ext cx="3520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Every vehicle linked to its owner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Make, model, year, plate, mileage, VIN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Quick search across the fleet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Add vehicles via guided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Work Orders</a:t>
            </a:r>
          </a:p>
        </p:txBody>
      </p:sp>
      <p:pic>
        <p:nvPicPr>
          <p:cNvPr id="8" name="Picture 7" descr="work-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406640" cy="462915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183879" y="1874519"/>
            <a:ext cx="3520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Track jobs from intake to completion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Color-coded status workflow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Filter by status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One-click status updates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Line-item pricing per 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Creating a Work Order</a:t>
            </a:r>
          </a:p>
        </p:txBody>
      </p:sp>
      <p:pic>
        <p:nvPicPr>
          <p:cNvPr id="8" name="Picture 7" descr="work-order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406640" cy="462915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183879" y="1874519"/>
            <a:ext cx="3520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Pick customer, then their vehicle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Add unlimited service line items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Live estimated total as you type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Capture customer notes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Fast, validated data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Invoices</a:t>
            </a:r>
          </a:p>
        </p:txBody>
      </p:sp>
      <p:pic>
        <p:nvPicPr>
          <p:cNvPr id="8" name="Picture 7" descr="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406640" cy="4629150"/>
          </a:xfrm>
          <a:prstGeom prst="rect">
            <a:avLst/>
          </a:prstGeom>
          <a:ln w="12700">
            <a:solidFill>
              <a:srgbClr val="E2E8F0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8183879" y="1874519"/>
            <a:ext cx="3520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Generate invoices from completed jobs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Automatic tax calculation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Status lifecycle: Draft → Sent → Paid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Track due dates &amp; outstanding balances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Invoice Document</a:t>
            </a:r>
          </a:p>
        </p:txBody>
      </p:sp>
      <p:graphicFrame>
        <p:nvGraphicFramePr>
          <p:cNvPr id="8" name="Object 7"/>
          <p:cNvGraphicFramePr>
            <a:graphicFrameLocks noGrp="1"/>
          </p:cNvGraphicFramePr>
          <p:nvPr/>
        </p:nvGraphicFramePr>
        <p:xfrm>
          <a:off x="502920" y="1783080"/>
          <a:ext cx="4526280" cy="4526280"/>
        </p:xfrm>
        <a:graphic>
          <a:graphicData uri="http://schemas.openxmlformats.org/presentationml/2006/ole">
            <p:oleObj showAsIcon="1" r:id="rId2" imgW="4526280" imgH="4526280" progId="AcroExch.Document.DC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02920" y="1783080"/>
                    <a:ext cx="4526280" cy="452628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532120" y="1874519"/>
            <a:ext cx="61264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A print-ready invoice generated automatically from work-order data — branded, itemized, with tax and totals.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Customer &amp; vehicle details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Itemized lines, subtotal, tax, total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Payment status &amp; due dates</a:t>
            </a:r>
          </a:p>
          <a:p>
            <a:pPr algn="l">
              <a:spcAft>
                <a:spcPts val="18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One-click generation from a completed job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The real PDF is embedded in this slide — double-click the invoice to open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UI Proposal &amp; Visual Theme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COLOR PALETTE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1600200" cy="566928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43784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Primary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#2563EB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240280"/>
            <a:ext cx="1600200" cy="566928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2843784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Primary Dark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#1D4ED8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56432"/>
            <a:ext cx="1600200" cy="566928"/>
          </a:xfrm>
          <a:prstGeom prst="roundRect">
            <a:avLst>
              <a:gd name="adj" fmla="val 1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59935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Sidebar / Ink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#0F172A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3456432"/>
            <a:ext cx="1600200" cy="566928"/>
          </a:xfrm>
          <a:prstGeom prst="roundRect">
            <a:avLst>
              <a:gd name="adj" fmla="val 1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80" y="4059935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Success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#059669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672584"/>
            <a:ext cx="1600200" cy="566928"/>
          </a:xfrm>
          <a:prstGeom prst="roundRect">
            <a:avLst>
              <a:gd name="adj" fmla="val 1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276088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Warning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#D97706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4672584"/>
            <a:ext cx="1600200" cy="566928"/>
          </a:xfrm>
          <a:prstGeom prst="roundRect">
            <a:avLst>
              <a:gd name="adj" fmla="val 1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0280" y="5276088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</a:rPr>
              <a:t>Surface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#F8FAFC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8288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TYPOGRAPHY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240280"/>
            <a:ext cx="34747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0F172A"/>
                </a:solidFill>
                <a:latin typeface="Calibri"/>
              </a:rPr>
              <a:t>Inter</a:t>
            </a:r>
          </a:p>
          <a:p>
            <a:pPr algn="l">
              <a:spcAft>
                <a:spcPts val="1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Geometric, highly legible UI typeface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0F172A"/>
                </a:solidFill>
                <a:latin typeface="Calibri"/>
              </a:rPr>
              <a:t>Heading — 600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Calibri"/>
              </a:rPr>
              <a:t>Subheading — 500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Body copy is set at a comfortable 14px with relaxed line-height for scanning dense data.</a:t>
            </a:r>
          </a:p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CAPTION / META · 11px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182880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Calibri"/>
              </a:rPr>
              <a:t>COMPONENTS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240280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59669"/>
                </a:solidFill>
                <a:latin typeface="Calibri"/>
              </a:rPr>
              <a:t>Paid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24028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2563EB"/>
                </a:solidFill>
                <a:latin typeface="Calibri"/>
              </a:rPr>
              <a:t>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274320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B45309"/>
                </a:solidFill>
                <a:latin typeface="Calibri"/>
              </a:rPr>
              <a:t>Waiting Parts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27432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DC2626"/>
                </a:solidFill>
                <a:latin typeface="Calibri"/>
              </a:rPr>
              <a:t>Overdue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429000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 Primary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3429000"/>
            <a:ext cx="14630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Secondary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4160520"/>
            <a:ext cx="3017520" cy="10058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29768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563EB"/>
                </a:solidFill>
                <a:latin typeface="Calibri"/>
              </a:rPr>
              <a:t>$12,480</a:t>
            </a:r>
          </a:p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KPI card · rounded 12px · soft shadow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9137" y="5897880"/>
            <a:ext cx="179771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8-px spacing grid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31439" y="5897880"/>
            <a:ext cx="197693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Card-based surfaces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72964" y="5897880"/>
            <a:ext cx="206654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12px rounded corners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04100" y="5897880"/>
            <a:ext cx="224576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Soft elevation shadows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14458" y="5897880"/>
            <a:ext cx="170809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1E293B"/>
                </a:solidFill>
                <a:latin typeface="Calibri"/>
              </a:rPr>
              <a:t>Fully responsive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84048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47472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0F172A"/>
                </a:solidFill>
                <a:latin typeface="Calibri"/>
              </a:rPr>
              <a:t>AutoWorks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11183112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Calibri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5440680" cy="502920"/>
          </a:xfrm>
          <a:prstGeom prst="roundRect">
            <a:avLst>
              <a:gd name="adj" fmla="val 25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8366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SHIPPED  (Phase 1 MVP)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212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Customer &amp; vehicle management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Work-order workflow &amp; statuses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Invoice generation + tax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Analytics dashboard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JWT security &amp; roles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440680" cy="50292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8366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PLANNED  (Next sprints)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14600"/>
            <a:ext cx="52120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•  PDF export &amp; email delivery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•  Inline editing of records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•  Technician scheduling / calendar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•  Parts &amp; inventory tracking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•  Customer self-service portal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AutoWorks — Workshop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6736" y="740664"/>
            <a:ext cx="27432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FFFFFF"/>
                </a:solidFill>
                <a:latin typeface="Calibri"/>
              </a:rPr>
              <a:t>AutoWorks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1800"/>
              </a:spcAft>
            </a:pPr>
            <a:r>
              <a:rPr sz="2200" b="1">
                <a:solidFill>
                  <a:srgbClr val="3B82F6"/>
                </a:solidFill>
                <a:latin typeface="Calibri"/>
              </a:rPr>
              <a:t>Questions &amp; live walkthrough</a:t>
            </a:r>
          </a:p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Demo login   admin@workshop.local  /  Admin123!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